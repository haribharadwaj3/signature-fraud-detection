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256" r:id="rId2"/>
    <p:sldId id="257" r:id="rId3"/>
    <p:sldId id="348" r:id="rId4"/>
    <p:sldId id="349" r:id="rId5"/>
    <p:sldId id="350" r:id="rId6"/>
    <p:sldId id="352" r:id="rId7"/>
    <p:sldId id="353" r:id="rId8"/>
    <p:sldId id="351" r:id="rId9"/>
    <p:sldId id="347" r:id="rId10"/>
    <p:sldId id="344" r:id="rId11"/>
    <p:sldId id="338" r:id="rId12"/>
    <p:sldId id="342" r:id="rId13"/>
  </p:sldIdLst>
  <p:sldSz cx="12192000" cy="6858000"/>
  <p:notesSz cx="6954838" cy="93091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Bookman Old Style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82" autoAdjust="0"/>
    <p:restoredTop sz="94660"/>
  </p:normalViewPr>
  <p:slideViewPr>
    <p:cSldViewPr snapToGrid="0">
      <p:cViewPr>
        <p:scale>
          <a:sx n="80" d="100"/>
          <a:sy n="80" d="100"/>
        </p:scale>
        <p:origin x="-306" y="-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40175" y="0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>
              <a:defRPr sz="1200"/>
            </a:lvl1pPr>
          </a:lstStyle>
          <a:p>
            <a:pPr>
              <a:defRPr/>
            </a:pPr>
            <a:fld id="{0D537B2C-B9FD-47DB-91C4-8606B3AEE4E2}" type="datetimeFigureOut">
              <a:rPr lang="en-US"/>
              <a:pPr>
                <a:defRPr/>
              </a:pPr>
              <a:t>12/13/2024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42375"/>
            <a:ext cx="3013075" cy="465138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40175" y="8842375"/>
            <a:ext cx="3013075" cy="465138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1FD847D6-CB21-4E2E-B3B5-6549624666A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fld id="{4C3C39CB-B4C9-4DCE-AD9E-39F10ADFA5C3}" type="datetimeFigureOut">
              <a:rPr lang="en-US"/>
              <a:pPr>
                <a:defRPr/>
              </a:pPr>
              <a:t>12/13/2024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latin typeface="Calibri" pitchFamily="34" charset="0"/>
              </a:defRPr>
            </a:lvl1pPr>
          </a:lstStyle>
          <a:p>
            <a:pPr>
              <a:defRPr/>
            </a:pPr>
            <a:fld id="{2B3EF142-6F38-4AD1-AB0A-BFE2FCF31E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8119970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960563"/>
            <a:ext cx="9144000" cy="127793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033462"/>
          </a:xfrm>
        </p:spPr>
        <p:txBody>
          <a:bodyPr/>
          <a:lstStyle>
            <a:lvl1pPr marL="0" indent="0" algn="ctr">
              <a:buNone/>
              <a:defRPr sz="2400" b="1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96400" y="6492875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5FBF479A-0BDD-48BE-92E1-39A5437B6BC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xmlns="" id="{096B87C1-6DCE-A70C-3726-46A7D8D061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4230" y="224178"/>
            <a:ext cx="1176022" cy="99833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>
            <a:cxnSpLocks/>
          </p:cNvCxnSpPr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algn="just">
              <a:defRPr b="0">
                <a:solidFill>
                  <a:schemeClr val="tx1"/>
                </a:solidFill>
              </a:defRPr>
            </a:lvl1pPr>
            <a:lvl2pPr algn="just">
              <a:defRPr b="0">
                <a:solidFill>
                  <a:schemeClr val="tx1"/>
                </a:solidFill>
              </a:defRPr>
            </a:lvl2pPr>
            <a:lvl3pPr algn="just">
              <a:defRPr b="0">
                <a:solidFill>
                  <a:schemeClr val="tx1"/>
                </a:solidFill>
              </a:defRPr>
            </a:lvl3pPr>
            <a:lvl4pPr algn="just">
              <a:defRPr b="0">
                <a:solidFill>
                  <a:schemeClr val="tx1"/>
                </a:solidFill>
              </a:defRPr>
            </a:lvl4pPr>
            <a:lvl5pPr algn="just">
              <a:defRPr b="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373306" y="6458043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2D96E056-3901-41CB-802B-E67DADB7F3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xmlns="" id="{3CDFBBD7-079A-CA58-828B-7F1C1AF3BB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 algn="just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759A464-761B-497E-A9EC-21A070F834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xmlns="" id="{E3096846-015D-7958-06E2-FA474E46B0C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/>
          <p:cNvCxnSpPr>
            <a:cxnSpLocks/>
          </p:cNvCxnSpPr>
          <p:nvPr userDrawn="1"/>
        </p:nvCxnSpPr>
        <p:spPr>
          <a:xfrm flipV="1">
            <a:off x="119063" y="895350"/>
            <a:ext cx="4351337" cy="25400"/>
          </a:xfrm>
          <a:prstGeom prst="line">
            <a:avLst/>
          </a:prstGeom>
          <a:ln w="5715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050925"/>
            <a:ext cx="5181600" cy="4351338"/>
          </a:xfrm>
        </p:spPr>
        <p:txBody>
          <a:bodyPr/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0509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448800" y="6492875"/>
            <a:ext cx="2743200" cy="365125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43A295C-00CF-4B3D-B3C7-2A9DC3CDDE7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xmlns="" id="{BFDCC154-5DB0-E303-AC0D-5C5D76F1876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53800" y="84975"/>
            <a:ext cx="762706" cy="810375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1128713" y="138113"/>
            <a:ext cx="9767887" cy="5953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Uday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1128713" y="1090613"/>
            <a:ext cx="9767887" cy="48180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fld id="{453AA481-BFE3-42B3-A623-3169D7EACBAD}" type="datetime2">
              <a:rPr lang="en-US"/>
              <a:pPr>
                <a:defRPr/>
              </a:pPr>
              <a:t>Friday, December 13, 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pPr>
              <a:defRPr/>
            </a:pPr>
            <a:r>
              <a:rPr lang="en-US"/>
              <a:t>© BVRIT CSE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400" b="1" smtClean="0">
                <a:solidFill>
                  <a:srgbClr val="002060"/>
                </a:solidFill>
              </a:defRPr>
            </a:lvl1pPr>
          </a:lstStyle>
          <a:p>
            <a:pPr>
              <a:defRPr/>
            </a:pPr>
            <a:fld id="{A8FB41C8-7EC4-4FC4-9E8F-BA3A610E8B4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88" r:id="rId1"/>
    <p:sldLayoutId id="2147483889" r:id="rId2"/>
    <p:sldLayoutId id="2147483887" r:id="rId3"/>
    <p:sldLayoutId id="2147483890" r:id="rId4"/>
  </p:sldLayoutIdLst>
  <p:hf hdr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 kern="1200">
          <a:solidFill>
            <a:srgbClr val="002060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2800" b="1">
          <a:solidFill>
            <a:srgbClr val="002060"/>
          </a:solidFill>
          <a:latin typeface="Bookman Old Style" panose="02050604050505020204" pitchFamily="18" charset="0"/>
        </a:defRPr>
      </a:lvl9pPr>
    </p:titleStyle>
    <p:bodyStyle>
      <a:lvl1pPr marL="228600" indent="-228600" algn="just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ctrTitle"/>
          </p:nvPr>
        </p:nvSpPr>
        <p:spPr>
          <a:xfrm>
            <a:off x="287564" y="1221050"/>
            <a:ext cx="11899900" cy="1049338"/>
          </a:xfrm>
        </p:spPr>
        <p:txBody>
          <a:bodyPr>
            <a:normAutofit fontScale="90000"/>
          </a:bodyPr>
          <a:lstStyle/>
          <a:p>
            <a:pPr eaLnBrk="1" hangingPunct="1">
              <a:defRPr/>
            </a:pPr>
            <a:r>
              <a:rPr lang="en-US" altLang="en-US" dirty="0">
                <a:latin typeface="Cambria" panose="02040503050406030204" pitchFamily="18" charset="0"/>
                <a:ea typeface="Cambria" panose="02040503050406030204" pitchFamily="18" charset="0"/>
              </a:rPr>
              <a:t>INSTITUTE OF AERONAUTICAL ENGINEERING</a:t>
            </a:r>
            <a:r>
              <a:rPr lang="en-US" altLang="en-US" sz="4400" dirty="0"/>
              <a:t/>
            </a:r>
            <a:br>
              <a:rPr lang="en-US" altLang="en-US" sz="4400" dirty="0"/>
            </a:b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(Autonomous)</a:t>
            </a:r>
            <a:b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</a:br>
            <a:r>
              <a:rPr lang="en-US" altLang="en-US" sz="2000" dirty="0">
                <a:latin typeface="Cambria" panose="02040503050406030204" pitchFamily="18" charset="0"/>
                <a:ea typeface="Cambria" panose="02040503050406030204" pitchFamily="18" charset="0"/>
              </a:rPr>
              <a:t>Dundigal, Hyderabad - 500 043</a:t>
            </a:r>
            <a:endParaRPr lang="en-US" altLang="en-US" dirty="0">
              <a:latin typeface="Cambria" panose="02040503050406030204" pitchFamily="18" charset="0"/>
              <a:ea typeface="Cambria" panose="02040503050406030204" pitchFamily="18" charset="0"/>
            </a:endParaRPr>
          </a:p>
        </p:txBody>
      </p:sp>
      <p:sp>
        <p:nvSpPr>
          <p:cNvPr id="6147" name="Subtitle 2"/>
          <p:cNvSpPr>
            <a:spLocks noGrp="1"/>
          </p:cNvSpPr>
          <p:nvPr>
            <p:ph type="subTitle" idx="1"/>
          </p:nvPr>
        </p:nvSpPr>
        <p:spPr>
          <a:xfrm>
            <a:off x="1665514" y="2382534"/>
            <a:ext cx="9144000" cy="930682"/>
          </a:xfrm>
        </p:spPr>
        <p:txBody>
          <a:bodyPr/>
          <a:lstStyle/>
          <a:p>
            <a:pPr eaLnBrk="1" hangingPunct="1">
              <a:buFont typeface="Arial" panose="020B0604020202020204" pitchFamily="34" charset="0"/>
              <a:buNone/>
              <a:defRPr/>
            </a:pPr>
            <a:r>
              <a:rPr lang="en-US" altLang="en-US" dirty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Academic Year: </a:t>
            </a:r>
            <a:r>
              <a:rPr lang="en-US" altLang="en-US" dirty="0" smtClean="0">
                <a:solidFill>
                  <a:srgbClr val="FF0000"/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2024-25</a:t>
            </a:r>
          </a:p>
          <a:p>
            <a:pPr eaLnBrk="1" hangingPunct="1">
              <a:defRPr/>
            </a:pPr>
            <a:r>
              <a:rPr lang="en-US" altLang="en-US" dirty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Department of Information Technology </a:t>
            </a:r>
            <a:r>
              <a:rPr lang="en-US" altLang="en-US" dirty="0" smtClean="0">
                <a:solidFill>
                  <a:schemeClr val="accent2">
                    <a:lumMod val="75000"/>
                  </a:schemeClr>
                </a:solidFill>
                <a:latin typeface="Cambria" panose="02040503050406030204" pitchFamily="18" charset="0"/>
                <a:ea typeface="Cambria" panose="02040503050406030204" pitchFamily="18" charset="0"/>
                <a:cs typeface="Cambria" panose="02040503050406030204" pitchFamily="18" charset="0"/>
              </a:rPr>
              <a:t>Second Review</a:t>
            </a: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 smtClean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rgbClr val="FF000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chemeClr val="accent2">
                  <a:lumMod val="75000"/>
                </a:schemeClr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  <a:p>
            <a:pPr eaLnBrk="1" hangingPunct="1">
              <a:buFont typeface="Arial" panose="020B0604020202020204" pitchFamily="34" charset="0"/>
              <a:buNone/>
              <a:defRPr/>
            </a:pPr>
            <a:endParaRPr lang="en-US" altLang="en-US" dirty="0">
              <a:solidFill>
                <a:srgbClr val="002060"/>
              </a:solidFill>
              <a:latin typeface="Cambria" panose="02040503050406030204" pitchFamily="18" charset="0"/>
              <a:ea typeface="Cambria" panose="02040503050406030204" pitchFamily="18" charset="0"/>
              <a:cs typeface="Cambria" panose="020405030504060302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543792" y="3695504"/>
            <a:ext cx="9120250" cy="369332"/>
          </a:xfrm>
          <a:prstGeom prst="rect">
            <a:avLst/>
          </a:prstGeom>
          <a:noFill/>
          <a:ln>
            <a:solidFill>
              <a:srgbClr val="0070C0">
                <a:alpha val="95000"/>
              </a:srgbClr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/>
              <a:t>              Title </a:t>
            </a:r>
            <a:r>
              <a:rPr lang="en-US" b="1" dirty="0"/>
              <a:t>: </a:t>
            </a:r>
            <a:r>
              <a:rPr lang="en-US" b="1" dirty="0" smtClean="0"/>
              <a:t>“Signature Fraud Detection Using Deep Learning” 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548640" y="4754879"/>
            <a:ext cx="618466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</a:t>
            </a:r>
            <a:r>
              <a:rPr lang="en-US" dirty="0"/>
              <a:t>:</a:t>
            </a:r>
          </a:p>
          <a:p>
            <a:endParaRPr lang="en-US" dirty="0"/>
          </a:p>
          <a:p>
            <a:pPr algn="just"/>
            <a:r>
              <a:rPr lang="en-US" dirty="0" smtClean="0"/>
              <a:t>22951A1221: P. </a:t>
            </a:r>
            <a:r>
              <a:rPr lang="en-US" dirty="0" err="1" smtClean="0"/>
              <a:t>Hari</a:t>
            </a:r>
            <a:r>
              <a:rPr lang="en-US" dirty="0" smtClean="0"/>
              <a:t> </a:t>
            </a:r>
            <a:r>
              <a:rPr lang="en-US" dirty="0" err="1" smtClean="0"/>
              <a:t>Bharadwaj</a:t>
            </a:r>
            <a:endParaRPr lang="en-US" dirty="0"/>
          </a:p>
          <a:p>
            <a:pPr algn="just"/>
            <a:r>
              <a:rPr lang="en-US" dirty="0" smtClean="0"/>
              <a:t>22951A1228: K. </a:t>
            </a:r>
            <a:r>
              <a:rPr lang="en-US" dirty="0" err="1" smtClean="0"/>
              <a:t>Aravind</a:t>
            </a:r>
            <a:endParaRPr lang="en-US" dirty="0"/>
          </a:p>
          <a:p>
            <a:pPr algn="just"/>
            <a:r>
              <a:rPr lang="en-US" dirty="0" smtClean="0"/>
              <a:t>23955A1207: P. </a:t>
            </a:r>
            <a:r>
              <a:rPr lang="en-US" dirty="0" err="1" smtClean="0"/>
              <a:t>Pradham</a:t>
            </a:r>
            <a:r>
              <a:rPr lang="en-US" dirty="0" smtClean="0"/>
              <a:t> </a:t>
            </a:r>
            <a:r>
              <a:rPr lang="en-US" dirty="0" err="1" smtClean="0"/>
              <a:t>Kushal</a:t>
            </a:r>
            <a:r>
              <a:rPr lang="en-US" dirty="0" smtClean="0"/>
              <a:t> Reddy</a:t>
            </a:r>
            <a:endParaRPr lang="en-US" dirty="0"/>
          </a:p>
          <a:p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8151223" y="4807131"/>
            <a:ext cx="3605348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/>
              <a:t>Mentor:</a:t>
            </a:r>
          </a:p>
          <a:p>
            <a:endParaRPr lang="en-US" b="1" dirty="0"/>
          </a:p>
          <a:p>
            <a:r>
              <a:rPr lang="en-US" sz="1600" dirty="0" smtClean="0"/>
              <a:t>Ms. K </a:t>
            </a:r>
            <a:r>
              <a:rPr lang="en-US" sz="1600" dirty="0" err="1" smtClean="0"/>
              <a:t>Venkata</a:t>
            </a:r>
            <a:r>
              <a:rPr lang="en-US" sz="1600" dirty="0" smtClean="0"/>
              <a:t> </a:t>
            </a:r>
            <a:r>
              <a:rPr lang="en-US" sz="1600" dirty="0" err="1" smtClean="0"/>
              <a:t>Ramana</a:t>
            </a:r>
            <a:r>
              <a:rPr lang="en-US" sz="1600" dirty="0" smtClean="0"/>
              <a:t> Devi,</a:t>
            </a:r>
          </a:p>
          <a:p>
            <a:r>
              <a:rPr lang="en-US" sz="1600" dirty="0" smtClean="0"/>
              <a:t>B. Tech., </a:t>
            </a:r>
            <a:r>
              <a:rPr lang="en-US" sz="1600" dirty="0"/>
              <a:t>M.Tech., </a:t>
            </a:r>
            <a:endParaRPr lang="en-US" sz="1600" dirty="0" smtClean="0"/>
          </a:p>
          <a:p>
            <a:r>
              <a:rPr lang="en-US" sz="1600" dirty="0" smtClean="0"/>
              <a:t>Assistant Professor</a:t>
            </a:r>
            <a:endParaRPr lang="en-US" sz="16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45845" y="222196"/>
            <a:ext cx="2255618" cy="59531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mbria" pitchFamily="18" charset="0"/>
                <a:ea typeface="Cambria" pitchFamily="18" charset="0"/>
                <a:cs typeface="Cambria" pitchFamily="18" charset="0"/>
              </a:rPr>
              <a:t>Outline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38188" y="1077914"/>
            <a:ext cx="5003800" cy="2737342"/>
          </a:xfrm>
        </p:spPr>
        <p:txBody>
          <a:bodyPr/>
          <a:lstStyle/>
          <a:p>
            <a:pPr eaLnBrk="1" hangingPunct="1"/>
            <a:endParaRPr lang="en-US" altLang="en-US" sz="2000" b="1" dirty="0" smtClean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</a:endParaRPr>
          </a:p>
          <a:p>
            <a:pPr eaLnBrk="1" hangingPunct="1"/>
            <a:r>
              <a:rPr lang="en-US" altLang="en-US" sz="2000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Objective </a:t>
            </a:r>
            <a:r>
              <a:rPr lang="en-US" altLang="en-US" sz="20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of Project</a:t>
            </a: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Abstract </a:t>
            </a: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Literature Papers</a:t>
            </a: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Existing System</a:t>
            </a:r>
          </a:p>
          <a:p>
            <a:pPr eaLnBrk="1" hangingPunct="1"/>
            <a:r>
              <a:rPr lang="en-US" altLang="en-US" sz="20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Proposed </a:t>
            </a:r>
            <a:r>
              <a:rPr lang="en-US" altLang="en-US" sz="2000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System</a:t>
            </a:r>
          </a:p>
          <a:p>
            <a:pPr eaLnBrk="1" hangingPunct="1"/>
            <a:r>
              <a:rPr lang="en-US" altLang="en-US" sz="2000" b="1" dirty="0" smtClean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References</a:t>
            </a:r>
            <a:endParaRPr lang="en-US" altLang="en-US" sz="20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</a:endParaRP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074DF7-47DB-46BB-AFC0-963A22437EAC}" type="slidenum">
              <a:rPr lang="en-US" altLang="en-US"/>
              <a:pPr/>
              <a:t>2</a:t>
            </a:fld>
            <a:endParaRPr lang="en-US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172273" y="253727"/>
            <a:ext cx="4284114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Objective of Project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714437" y="1267919"/>
            <a:ext cx="10928295" cy="3420514"/>
          </a:xfrm>
        </p:spPr>
        <p:txBody>
          <a:bodyPr/>
          <a:lstStyle/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Utilizes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advanced deep learning techniques to identify and classify forged signatures with precision.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dirty="0">
                <a:latin typeface="Cambria" pitchFamily="18" charset="0"/>
                <a:ea typeface="Cambria" pitchFamily="18" charset="0"/>
              </a:rPr>
              <a:t>Analyzes unique handwriting characteristics, including stroke patterns, pen pressure, and writing speed.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dirty="0">
                <a:latin typeface="Cambria" pitchFamily="18" charset="0"/>
                <a:ea typeface="Cambria" pitchFamily="18" charset="0"/>
              </a:rPr>
              <a:t>Provides high accuracy in distinguishing between authentic and forged signatures, minimizing the chances of false positives.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dirty="0">
                <a:latin typeface="Cambria" pitchFamily="18" charset="0"/>
                <a:ea typeface="Cambria" pitchFamily="18" charset="0"/>
              </a:rPr>
              <a:t>Ensures secure, reliable, and automated signature verification for applications in financial, legal, and government sectors.</a:t>
            </a:r>
          </a:p>
          <a:p>
            <a:pPr>
              <a:lnSpc>
                <a:spcPct val="150000"/>
              </a:lnSpc>
              <a:buFont typeface="Wingdings" pitchFamily="2" charset="2"/>
              <a:buChar char="v"/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Adapts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to various signature styles and formats, making the system robust and applicable across diverse cultural and linguistic settings.</a:t>
            </a:r>
          </a:p>
          <a:p>
            <a:pPr marL="0" indent="0">
              <a:buNone/>
            </a:pPr>
            <a:endParaRPr lang="en-US" sz="2000" dirty="0"/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074DF7-47DB-46BB-AFC0-963A22437EAC}" type="slidenum">
              <a:rPr lang="en-US" altLang="en-US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435523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Title 1"/>
          <p:cNvSpPr>
            <a:spLocks noGrp="1"/>
          </p:cNvSpPr>
          <p:nvPr>
            <p:ph type="title"/>
          </p:nvPr>
        </p:nvSpPr>
        <p:spPr>
          <a:xfrm>
            <a:off x="224824" y="232706"/>
            <a:ext cx="2234597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</a:rPr>
              <a:t>Abstract </a:t>
            </a:r>
          </a:p>
        </p:txBody>
      </p:sp>
      <p:sp>
        <p:nvSpPr>
          <p:cNvPr id="6147" name="Content Placeholder 2"/>
          <p:cNvSpPr>
            <a:spLocks noGrp="1"/>
          </p:cNvSpPr>
          <p:nvPr>
            <p:ph idx="1"/>
          </p:nvPr>
        </p:nvSpPr>
        <p:spPr>
          <a:xfrm>
            <a:off x="251299" y="1208541"/>
            <a:ext cx="10757127" cy="5168507"/>
          </a:xfrm>
        </p:spPr>
        <p:txBody>
          <a:bodyPr/>
          <a:lstStyle/>
          <a:p>
            <a:pPr marL="719138" lvl="1" indent="0">
              <a:lnSpc>
                <a:spcPct val="150000"/>
              </a:lnSpc>
              <a:buNone/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	Secure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authentication plays a major role in ensuring the identity of a person. Everyone has an individual and unique signature, which is used as their personal identification in all their legal transactions. Even though a lot of things got digitalized, traditional signatures are still used in a lot of places, such as check payments and government offices, and they still rely on a human manually verifying them.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So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, forgery detection plays a key role in reducing these kinds of overhead. Manual verification is not only difficult to check if two signatures are the same but also very time-consuming. Pandemic further made people do tasks digitally, which also included uploading their own signatures digitally. This increases the urgency of implementing a system to identify and verify the user’s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signature.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This paper proposes a method to pre-process the signature to make verification simple as well as use methods like the Convolution Neural Network (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CNN), Speeded-Up Robust Features (SURF) or Scale-Invariant Feature Transform (SIFT) to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identify forged signatures and compare the results obtained with various parameters. </a:t>
            </a:r>
          </a:p>
        </p:txBody>
      </p:sp>
      <p:sp>
        <p:nvSpPr>
          <p:cNvPr id="6150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A074DF7-47DB-46BB-AFC0-963A22437EAC}" type="slidenum">
              <a:rPr lang="en-US" altLang="en-US"/>
              <a:pPr/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267628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7" y="211686"/>
            <a:ext cx="9767887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Literature Papers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5</a:t>
            </a:fld>
            <a:endParaRPr lang="en-US" altLang="en-US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xmlns="" id="{1DB8783B-D514-C168-A36F-D60226DB1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07119623"/>
              </p:ext>
            </p:extLst>
          </p:nvPr>
        </p:nvGraphicFramePr>
        <p:xfrm>
          <a:off x="439386" y="1174999"/>
          <a:ext cx="11162807" cy="51320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7209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685652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639946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277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Author/Title/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Journal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183893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smtClean="0">
                          <a:latin typeface="Cambria" pitchFamily="18" charset="0"/>
                          <a:ea typeface="Cambria" pitchFamily="18" charset="0"/>
                        </a:rPr>
                        <a:t>Tolosana R., Vera-Rodriguez R., Fierrez</a:t>
                      </a:r>
                      <a:r>
                        <a:rPr lang="en-IN" baseline="0" smtClean="0">
                          <a:latin typeface="Cambria" pitchFamily="18" charset="0"/>
                          <a:ea typeface="Cambria" pitchFamily="18" charset="0"/>
                        </a:rPr>
                        <a:t> </a:t>
                      </a:r>
                      <a:r>
                        <a:rPr lang="en-IN" smtClean="0">
                          <a:latin typeface="Cambria" pitchFamily="18" charset="0"/>
                          <a:ea typeface="Cambria" pitchFamily="18" charset="0"/>
                        </a:rPr>
                        <a:t>J., Ortega-Garcia J.  DeepSign: Deep On-Line Signature Verification IEEE Transactions on Biometrics, Behavior, and Identity Science  2021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Introduces a deep learning approach for on-line signature verification, utilizing a recurrent neural network (RNN) architecture to capture temporal features of signatures.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marL="285750" marR="0" indent="-28575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Utilizes diverse datasets, indicating the importance of varied training data to enhance model generalization in real-world scenarios.</a:t>
                      </a:r>
                    </a:p>
                    <a:p>
                      <a:pPr marL="0" indent="0" algn="just">
                        <a:lnSpc>
                          <a:spcPct val="100000"/>
                        </a:lnSpc>
                        <a:buFontTx/>
                        <a:buNone/>
                      </a:pPr>
                      <a:endParaRPr lang="en-US" sz="1800" b="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05946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Cambria" pitchFamily="18" charset="0"/>
                          <a:ea typeface="Cambria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algn="ctr"/>
                      <a:endParaRPr lang="en-US" sz="1800" dirty="0" smtClean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dirty="0" smtClean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  <a:p>
                      <a:pPr algn="ctr"/>
                      <a:endParaRPr lang="en-US" sz="1800" dirty="0" smtClean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Jain A., Singh S.K., Singh K.P.  Handwritten Signature Verification Using Shallow Convolutional Neural Network  Multimedia Tools and Applications  2020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Proposes a shallow convolutional neural network for handwritten signature verification, emphasizing simplicity and efficiency in implementation.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Suggests potential for real-time signature verification systems due to reduced complexity and faster processing times.</a:t>
                      </a:r>
                      <a:endParaRPr lang="en-US" sz="1800" b="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675873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7" y="211686"/>
            <a:ext cx="9767887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Literature Papers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6</a:t>
            </a:fld>
            <a:endParaRPr lang="en-US" altLang="en-US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xmlns="" id="{1DB8783B-D514-C168-A36F-D60226DB1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5902865"/>
              </p:ext>
            </p:extLst>
          </p:nvPr>
        </p:nvGraphicFramePr>
        <p:xfrm>
          <a:off x="340437" y="1174999"/>
          <a:ext cx="11368634" cy="53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6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36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623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29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Author/Title/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Journal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246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Ghosh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R.  A Recurrent Neural Network Based Deep Learning Model for Offline Signature Verification and Recognition System  Expert Systems with Applications  2021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Develops a recurrent neural network model specifically for offline signature verification and recognition, focusing on sequential feature extraction.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/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Provides thorough evaluation metrics, including precision and recall, showcasing the model's robustness in various testing scenarios.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672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Yapıcı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M.M.,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Tekerek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A.,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Topaloğlu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N.  Deep Learning-Based Data Augmentation Method and Signature Verification System for Offline Handwritten Signature  Pattern Analysis and Applications  2021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Introduces a deep learning-based data augmentation method to enhance the training dataset for offline handwritten signatures, improving model performance.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Suggests applicability to various handwritten signature datasets, making it a flexible solution for different signature verification tasks.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515541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7" y="211686"/>
            <a:ext cx="9767887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Literature Papers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7</a:t>
            </a:fld>
            <a:endParaRPr lang="en-US" altLang="en-US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xmlns="" id="{1DB8783B-D514-C168-A36F-D60226DB1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40980918"/>
              </p:ext>
            </p:extLst>
          </p:nvPr>
        </p:nvGraphicFramePr>
        <p:xfrm>
          <a:off x="340437" y="1174999"/>
          <a:ext cx="11368634" cy="53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6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36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623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29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No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Author/Title/</a:t>
                      </a:r>
                    </a:p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Journal / Year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Observation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442461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Tahir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N.M., </a:t>
                      </a:r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Ausat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A.N., </a:t>
                      </a:r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Bature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U.I., </a:t>
                      </a:r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Abubakar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K.A., </a:t>
                      </a:r>
                      <a:r>
                        <a:rPr lang="en-US" dirty="0" err="1" smtClean="0">
                          <a:latin typeface="Cambria" pitchFamily="18" charset="0"/>
                          <a:ea typeface="Cambria" pitchFamily="18" charset="0"/>
                        </a:rPr>
                        <a:t>Gambo</a:t>
                      </a: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 I.  Off-Line Handwritten Signature Verification System: Artificial Neural Network Approach / 2021</a:t>
                      </a: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Emphasizes the role of effective feature extraction techniques in improving verification accuracy, albeit with more straightforward models.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/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/>
                        <a:t>Acknowledges limitations in terms of generalization to more complex datasets, suggesting further research into advanced models for improved performance.</a:t>
                      </a:r>
                      <a:endParaRPr lang="en-US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  <a:tr h="2267227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latin typeface="Times New Roman" pitchFamily="18" charset="0"/>
                          <a:cs typeface="Times New Roman" pitchFamily="18" charset="0"/>
                        </a:rP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/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Yapıcı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M.M.,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Tekerek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A.,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Topaloğlu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N.  Deep Learning-Based Data Augmentation Method and Signature Verification System for Offline Handwritten Signature  Pattern Analysis and Applications  2021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Introduces a deep learning-based data augmentation method to enhance the training dataset for offline handwritten signatures, improving model performance.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Suggests applicability to various handwritten signature datasets, making it a flexible solution for different signature verification tasks.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27784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7" y="211686"/>
            <a:ext cx="9767887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Literature Papers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8</a:t>
            </a:fld>
            <a:endParaRPr lang="en-US" altLang="en-US"/>
          </a:p>
        </p:txBody>
      </p:sp>
      <p:graphicFrame>
        <p:nvGraphicFramePr>
          <p:cNvPr id="2" name="Content Placeholder 3">
            <a:extLst>
              <a:ext uri="{FF2B5EF4-FFF2-40B4-BE49-F238E27FC236}">
                <a16:creationId xmlns:a16="http://schemas.microsoft.com/office/drawing/2014/main" xmlns="" id="{1DB8783B-D514-C168-A36F-D60226DB155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198126501"/>
              </p:ext>
            </p:extLst>
          </p:nvPr>
        </p:nvGraphicFramePr>
        <p:xfrm>
          <a:off x="340437" y="1174999"/>
          <a:ext cx="11368634" cy="27676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2646">
                  <a:extLst>
                    <a:ext uri="{9D8B030D-6E8A-4147-A177-3AD203B41FA5}">
                      <a16:colId xmlns:a16="http://schemas.microsoft.com/office/drawing/2014/main" xmlns="" val="20000"/>
                    </a:ext>
                  </a:extLst>
                </a:gridCol>
                <a:gridCol w="3753610">
                  <a:extLst>
                    <a:ext uri="{9D8B030D-6E8A-4147-A177-3AD203B41FA5}">
                      <a16:colId xmlns:a16="http://schemas.microsoft.com/office/drawing/2014/main" xmlns="" val="20001"/>
                    </a:ext>
                  </a:extLst>
                </a:gridCol>
                <a:gridCol w="6762378">
                  <a:extLst>
                    <a:ext uri="{9D8B030D-6E8A-4147-A177-3AD203B41FA5}">
                      <a16:colId xmlns:a16="http://schemas.microsoft.com/office/drawing/2014/main" xmlns="" val="20002"/>
                    </a:ext>
                  </a:extLst>
                </a:gridCol>
              </a:tblGrid>
              <a:tr h="622992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S.</a:t>
                      </a:r>
                    </a:p>
                    <a:p>
                      <a:pPr algn="ctr"/>
                      <a:r>
                        <a:rPr lang="en-US" sz="1800" dirty="0" smtClean="0">
                          <a:latin typeface="Times New Roman" pitchFamily="18" charset="0"/>
                          <a:cs typeface="Times New Roman" pitchFamily="18" charset="0"/>
                        </a:rPr>
                        <a:t>No 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latin typeface="Times New Roman" pitchFamily="18" charset="0"/>
                          <a:cs typeface="Times New Roman" pitchFamily="18" charset="0"/>
                        </a:rPr>
                        <a:t>Author/Title/</a:t>
                      </a:r>
                    </a:p>
                    <a:p>
                      <a:pPr algn="ctr"/>
                      <a:r>
                        <a:rPr lang="en-US" sz="1800" smtClean="0">
                          <a:latin typeface="Times New Roman" pitchFamily="18" charset="0"/>
                          <a:cs typeface="Times New Roman" pitchFamily="18" charset="0"/>
                        </a:rPr>
                        <a:t>Journal / Year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latin typeface="Times New Roman" pitchFamily="18" charset="0"/>
                          <a:cs typeface="Times New Roman" pitchFamily="18" charset="0"/>
                        </a:rPr>
                        <a:t>Observation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0"/>
                  </a:ext>
                </a:extLst>
              </a:tr>
              <a:tr h="2127529">
                <a:tc>
                  <a:txBody>
                    <a:bodyPr/>
                    <a:lstStyle/>
                    <a:p>
                      <a:pPr algn="ctr"/>
                      <a:r>
                        <a:rPr lang="en-US" sz="1800" smtClean="0">
                          <a:latin typeface="Times New Roman" pitchFamily="18" charset="0"/>
                          <a:cs typeface="Times New Roman" pitchFamily="18" charset="0"/>
                        </a:rPr>
                        <a:t>5</a:t>
                      </a:r>
                      <a:endParaRPr lang="en-US" sz="1800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0000"/>
                        </a:lnSpc>
                      </a:pP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Tahir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N.M.,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Ausat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A.N.,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Bature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U.I.,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Abubakar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K.A., </a:t>
                      </a:r>
                      <a:r>
                        <a:rPr lang="en-IN" dirty="0" err="1" smtClean="0">
                          <a:latin typeface="Cambria" pitchFamily="18" charset="0"/>
                          <a:ea typeface="Cambria" pitchFamily="18" charset="0"/>
                        </a:rPr>
                        <a:t>Gambo</a:t>
                      </a:r>
                      <a:r>
                        <a:rPr lang="en-IN" dirty="0" smtClean="0">
                          <a:latin typeface="Cambria" pitchFamily="18" charset="0"/>
                          <a:ea typeface="Cambria" pitchFamily="18" charset="0"/>
                        </a:rPr>
                        <a:t> I.  Off-Line Handwritten Signature Verification System: Artificial Neural Network Approach / 2021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Emphasizes the role of effective feature extraction techniques in improving verification accuracy, albeit with more straightforward models.</a:t>
                      </a: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endParaRPr lang="en-US" dirty="0" smtClean="0">
                        <a:latin typeface="Cambria" pitchFamily="18" charset="0"/>
                        <a:ea typeface="Cambria" pitchFamily="18" charset="0"/>
                      </a:endParaRPr>
                    </a:p>
                    <a:p>
                      <a:pPr marL="285750" indent="-285750" algn="just">
                        <a:lnSpc>
                          <a:spcPct val="100000"/>
                        </a:lnSpc>
                        <a:buFont typeface="Arial" pitchFamily="34" charset="0"/>
                        <a:buChar char="•"/>
                      </a:pPr>
                      <a:r>
                        <a:rPr lang="en-US" dirty="0" smtClean="0">
                          <a:latin typeface="Cambria" pitchFamily="18" charset="0"/>
                          <a:ea typeface="Cambria" pitchFamily="18" charset="0"/>
                        </a:rPr>
                        <a:t>Acknowledges limitations in terms of generalization to more complex datasets, suggesting further research into advanced models for improved performance.</a:t>
                      </a:r>
                      <a:endParaRPr lang="en-US" sz="1800" dirty="0">
                        <a:latin typeface="Cambria" pitchFamily="18" charset="0"/>
                        <a:ea typeface="Cambria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95615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8" y="211686"/>
            <a:ext cx="3579922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Existing System</a:t>
            </a: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946FD142-965E-A230-5E0D-9E9D1283B3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8187" y="1077913"/>
            <a:ext cx="10293989" cy="4776621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dirty="0" smtClean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existing offline signature recognition and forgery detection system employs several methods for robust authentication:</a:t>
            </a:r>
          </a:p>
          <a:p>
            <a:pPr>
              <a:lnSpc>
                <a:spcPct val="150000"/>
              </a:lnSpc>
            </a:pP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Recognition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: Convolutional Neural Networks (CNNs) identify unique features in signatures with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accuracy 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(85-89%)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by learning from a dataset of signature images.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ambria" pitchFamily="18" charset="0"/>
                <a:ea typeface="Cambria" pitchFamily="18" charset="0"/>
              </a:rPr>
              <a:t>Forgery Detection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:</a:t>
            </a:r>
          </a:p>
          <a:p>
            <a:pPr lvl="1">
              <a:lnSpc>
                <a:spcPct val="150000"/>
              </a:lnSpc>
            </a:pPr>
            <a:r>
              <a:rPr lang="en-US" sz="1800" dirty="0">
                <a:latin typeface="Cambria" pitchFamily="18" charset="0"/>
                <a:ea typeface="Cambria" pitchFamily="18" charset="0"/>
              </a:rPr>
              <a:t>The </a:t>
            </a:r>
            <a:r>
              <a:rPr lang="en-US" sz="1800" b="1" dirty="0">
                <a:latin typeface="Cambria" pitchFamily="18" charset="0"/>
                <a:ea typeface="Cambria" pitchFamily="18" charset="0"/>
              </a:rPr>
              <a:t>Crest-Trough Method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 analyzes specific contour patterns in signatures, focusing on crest and trough points to detect inconsistencies.</a:t>
            </a:r>
          </a:p>
          <a:p>
            <a:pPr lvl="1">
              <a:lnSpc>
                <a:spcPct val="150000"/>
              </a:lnSpc>
            </a:pPr>
            <a:r>
              <a:rPr lang="en-US" sz="1800" b="1" dirty="0">
                <a:latin typeface="Cambria" pitchFamily="18" charset="0"/>
                <a:ea typeface="Cambria" pitchFamily="18" charset="0"/>
              </a:rPr>
              <a:t>Harris </a:t>
            </a: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algorithms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identify and compare distinctive corner points between test signatures and originals, achieving forgery detection accuracy of 85-89%.</a:t>
            </a:r>
          </a:p>
          <a:p>
            <a:pPr eaLnBrk="1" hangingPunct="1"/>
            <a:endParaRPr lang="en-US" altLang="en-US" sz="18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</a:endParaRPr>
          </a:p>
          <a:p>
            <a:pPr eaLnBrk="1" hangingPunct="1"/>
            <a:endParaRPr lang="en-US" altLang="en-US" sz="18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0956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itle 1"/>
          <p:cNvSpPr>
            <a:spLocks noGrp="1"/>
          </p:cNvSpPr>
          <p:nvPr>
            <p:ph type="title"/>
          </p:nvPr>
        </p:nvSpPr>
        <p:spPr>
          <a:xfrm>
            <a:off x="340438" y="211686"/>
            <a:ext cx="4126460" cy="595312"/>
          </a:xfrm>
        </p:spPr>
        <p:txBody>
          <a:bodyPr/>
          <a:lstStyle/>
          <a:p>
            <a:pPr eaLnBrk="1" hangingPunct="1"/>
            <a:r>
              <a:rPr lang="en-US" altLang="en-US" sz="2800" b="1" dirty="0">
                <a:solidFill>
                  <a:srgbClr val="002060"/>
                </a:solidFill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Proposed </a:t>
            </a:r>
            <a:r>
              <a:rPr lang="en-US" altLang="en-US" dirty="0">
                <a:latin typeface="Cambria" pitchFamily="18" charset="0"/>
                <a:ea typeface="Cambria" pitchFamily="18" charset="0"/>
                <a:cs typeface="Cambria" pitchFamily="18" charset="0"/>
                <a:sym typeface="Wingdings" pitchFamily="2" charset="2"/>
              </a:rPr>
              <a:t>System</a:t>
            </a:r>
            <a:endParaRPr lang="en-US" altLang="en-US" sz="28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  <a:sym typeface="Wingdings" pitchFamily="2" charset="2"/>
            </a:endParaRPr>
          </a:p>
        </p:txBody>
      </p:sp>
      <p:sp>
        <p:nvSpPr>
          <p:cNvPr id="922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9BA95D20-3DD7-486C-BDED-39A628F8F61B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xmlns="" id="{4BD2EBE0-549B-8A99-B400-A0FA0AF8D5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063" y="1232292"/>
            <a:ext cx="10234612" cy="4455987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sz="1800" b="1" dirty="0" smtClean="0">
                <a:latin typeface="Cambria" pitchFamily="18" charset="0"/>
                <a:ea typeface="Cambria" pitchFamily="18" charset="0"/>
              </a:rPr>
              <a:t>Modular </a:t>
            </a:r>
            <a:r>
              <a:rPr lang="en-US" sz="1800" b="1" dirty="0">
                <a:latin typeface="Cambria" pitchFamily="18" charset="0"/>
                <a:ea typeface="Cambria" pitchFamily="18" charset="0"/>
              </a:rPr>
              <a:t>Design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: Create a modular pipeline for pre-processing and feature extraction, allowing easy addition of new algorithms (e.g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.,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SURF</a:t>
            </a:r>
            <a:r>
              <a:rPr lang="en-US" sz="1800" dirty="0" smtClean="0">
                <a:latin typeface="Cambria" pitchFamily="18" charset="0"/>
                <a:ea typeface="Cambria" pitchFamily="18" charset="0"/>
              </a:rPr>
              <a:t>, SIFT, Siamese neural network) 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to adapt the system as needed.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ambria" pitchFamily="18" charset="0"/>
                <a:ea typeface="Cambria" pitchFamily="18" charset="0"/>
              </a:rPr>
              <a:t>Configurable Interface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: Develop an interface that lets users adjust settings, view feature extraction outputs, and experiment with different parameters to refine forgery detection and recognition.</a:t>
            </a:r>
          </a:p>
          <a:p>
            <a:pPr>
              <a:lnSpc>
                <a:spcPct val="150000"/>
              </a:lnSpc>
            </a:pPr>
            <a:r>
              <a:rPr lang="en-US" sz="1800" b="1" dirty="0">
                <a:latin typeface="Cambria" pitchFamily="18" charset="0"/>
                <a:ea typeface="Cambria" pitchFamily="18" charset="0"/>
              </a:rPr>
              <a:t>Enhanced Accuracy (90-95%)</a:t>
            </a:r>
            <a:r>
              <a:rPr lang="en-US" sz="1800" dirty="0">
                <a:latin typeface="Cambria" pitchFamily="18" charset="0"/>
                <a:ea typeface="Cambria" pitchFamily="18" charset="0"/>
              </a:rPr>
              <a:t>: Implement an accuracy-tracking module that fine-tunes parameters within the CNN layers, feature extraction algorithms, and forgery detection thresholds, enabling continuous improvement based on performance feedback.</a:t>
            </a:r>
          </a:p>
          <a:p>
            <a:pPr eaLnBrk="1" hangingPunct="1"/>
            <a:endParaRPr lang="en-US" altLang="en-US" sz="2000" b="1" dirty="0">
              <a:solidFill>
                <a:srgbClr val="002060"/>
              </a:solidFill>
              <a:latin typeface="Cambria" pitchFamily="18" charset="0"/>
              <a:ea typeface="Cambria" pitchFamily="18" charset="0"/>
              <a:cs typeface="Cambria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92444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Title 1"/>
          <p:cNvSpPr>
            <a:spLocks noGrp="1"/>
          </p:cNvSpPr>
          <p:nvPr>
            <p:ph type="title"/>
          </p:nvPr>
        </p:nvSpPr>
        <p:spPr>
          <a:xfrm>
            <a:off x="77678" y="264237"/>
            <a:ext cx="9869487" cy="595312"/>
          </a:xfrm>
        </p:spPr>
        <p:txBody>
          <a:bodyPr/>
          <a:lstStyle/>
          <a:p>
            <a:pPr eaLnBrk="1" hangingPunct="1"/>
            <a:r>
              <a:rPr lang="en-US" altLang="en-US" dirty="0">
                <a:latin typeface="Cambria" pitchFamily="18" charset="0"/>
                <a:ea typeface="Cambria" pitchFamily="18" charset="0"/>
                <a:cs typeface="Cambria" pitchFamily="18" charset="0"/>
              </a:rPr>
              <a:t> References </a:t>
            </a:r>
          </a:p>
        </p:txBody>
      </p:sp>
      <p:sp>
        <p:nvSpPr>
          <p:cNvPr id="13317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6DD997-5713-41AC-901E-348356D9C375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12" name="TextBox 11"/>
          <p:cNvSpPr txBox="1"/>
          <p:nvPr/>
        </p:nvSpPr>
        <p:spPr>
          <a:xfrm>
            <a:off x="470263" y="1423851"/>
            <a:ext cx="11011988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IN" dirty="0" err="1">
                <a:latin typeface="Cambria" pitchFamily="18" charset="0"/>
                <a:ea typeface="Cambria" pitchFamily="18" charset="0"/>
              </a:rPr>
              <a:t>Tolosana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R., Vera-Rodriguez, R.,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Fierrez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J., Ortega-Garcia, J. (2021).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DeepSign</a:t>
            </a:r>
            <a:r>
              <a:rPr lang="en-IN" dirty="0">
                <a:latin typeface="Cambria" pitchFamily="18" charset="0"/>
                <a:ea typeface="Cambria" pitchFamily="18" charset="0"/>
              </a:rPr>
              <a:t>: Deep On-Line Signature Verification.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Ieee</a:t>
            </a:r>
            <a:r>
              <a:rPr lang="en-IN" dirty="0">
                <a:latin typeface="Cambria" pitchFamily="18" charset="0"/>
                <a:ea typeface="Cambria" pitchFamily="18" charset="0"/>
              </a:rPr>
              <a:t> Transactions On Biometrics,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Behavior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And Identity Science. 3, </a:t>
            </a:r>
            <a:r>
              <a:rPr lang="en-IN" dirty="0" smtClean="0">
                <a:latin typeface="Cambria" pitchFamily="18" charset="0"/>
                <a:ea typeface="Cambria" pitchFamily="18" charset="0"/>
              </a:rPr>
              <a:t>229-239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>
                <a:latin typeface="Cambria" pitchFamily="18" charset="0"/>
                <a:ea typeface="Cambria" pitchFamily="18" charset="0"/>
              </a:rPr>
              <a:t>Jain, A., Singh, S.K., Singh, K.P. (2020). Handwritten signature verification using shallow convolutional neural network.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Multimed</a:t>
            </a:r>
            <a:r>
              <a:rPr lang="en-IN" dirty="0">
                <a:latin typeface="Cambria" pitchFamily="18" charset="0"/>
                <a:ea typeface="Cambria" pitchFamily="18" charset="0"/>
              </a:rPr>
              <a:t> Tools Appl. 79, 19993-20018</a:t>
            </a:r>
            <a:r>
              <a:rPr lang="en-IN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dirty="0" err="1">
                <a:latin typeface="Cambria" pitchFamily="18" charset="0"/>
                <a:ea typeface="Cambria" pitchFamily="18" charset="0"/>
              </a:rPr>
              <a:t>Ghosh</a:t>
            </a:r>
            <a:r>
              <a:rPr lang="en-US" dirty="0">
                <a:latin typeface="Cambria" pitchFamily="18" charset="0"/>
                <a:ea typeface="Cambria" pitchFamily="18" charset="0"/>
              </a:rPr>
              <a:t>, R. (2021). A Recurrent Neural Network based deep learning model for offline signature verification and recognition system. Expert Systems with Applications. 168</a:t>
            </a:r>
            <a:r>
              <a:rPr lang="en-US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 smtClean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latin typeface="Cambria" pitchFamily="18" charset="0"/>
                <a:ea typeface="Cambria" pitchFamily="18" charset="0"/>
              </a:rPr>
              <a:t>Yapıcı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M.M.,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Tekerek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A.,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Topaloğlu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N. (2021). Deep learning-based data augmentation method and signature verification system for offline handwritten signature. Pattern Anal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Applic</a:t>
            </a:r>
            <a:r>
              <a:rPr lang="en-IN" dirty="0">
                <a:latin typeface="Cambria" pitchFamily="18" charset="0"/>
                <a:ea typeface="Cambria" pitchFamily="18" charset="0"/>
              </a:rPr>
              <a:t>. 24, 165-179</a:t>
            </a:r>
            <a:r>
              <a:rPr lang="en-IN" dirty="0" smtClean="0">
                <a:latin typeface="Cambria" pitchFamily="18" charset="0"/>
                <a:ea typeface="Cambria" pitchFamily="18" charset="0"/>
              </a:rPr>
              <a:t>.</a:t>
            </a:r>
          </a:p>
          <a:p>
            <a:pPr marL="342900" indent="-342900">
              <a:buFont typeface="+mj-lt"/>
              <a:buAutoNum type="arabicPeriod"/>
            </a:pPr>
            <a:endParaRPr lang="en-IN" dirty="0">
              <a:latin typeface="Cambria" pitchFamily="18" charset="0"/>
              <a:ea typeface="Cambria" pitchFamily="18" charset="0"/>
            </a:endParaRPr>
          </a:p>
          <a:p>
            <a:pPr marL="342900" indent="-342900">
              <a:buFont typeface="+mj-lt"/>
              <a:buAutoNum type="arabicPeriod"/>
            </a:pPr>
            <a:r>
              <a:rPr lang="en-IN" dirty="0" err="1">
                <a:latin typeface="Cambria" pitchFamily="18" charset="0"/>
                <a:ea typeface="Cambria" pitchFamily="18" charset="0"/>
              </a:rPr>
              <a:t>Tahir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N.M.,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Ausat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A.N.,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Bature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U.I.,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Abubakar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K.A., </a:t>
            </a:r>
            <a:r>
              <a:rPr lang="en-IN" dirty="0" err="1">
                <a:latin typeface="Cambria" pitchFamily="18" charset="0"/>
                <a:ea typeface="Cambria" pitchFamily="18" charset="0"/>
              </a:rPr>
              <a:t>Gambo</a:t>
            </a:r>
            <a:r>
              <a:rPr lang="en-IN" dirty="0">
                <a:latin typeface="Cambria" pitchFamily="18" charset="0"/>
                <a:ea typeface="Cambria" pitchFamily="18" charset="0"/>
              </a:rPr>
              <a:t>, I. (2021). Off-line Handwritten Signature Verification System: Artificial Neural Network Approach. 1, 45.57.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41" name="Slide Number Placeholder 5"/>
          <p:cNvSpPr>
            <a:spLocks noGrp="1"/>
          </p:cNvSpPr>
          <p:nvPr>
            <p:ph type="sldNum" sz="quarter" idx="12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D0875F05-5E2C-49B8-9428-2F9C627CBDF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998085" y="2855188"/>
            <a:ext cx="10810738" cy="595312"/>
          </a:xfrm>
        </p:spPr>
        <p:txBody>
          <a:bodyPr/>
          <a:lstStyle/>
          <a:p>
            <a:pPr algn="ctr"/>
            <a:r>
              <a:rPr lang="en-US" dirty="0" smtClean="0"/>
              <a:t>THANK YOU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hinni's">
      <a:majorFont>
        <a:latin typeface="Bookman Old Style"/>
        <a:ea typeface=""/>
        <a:cs typeface=""/>
      </a:majorFont>
      <a:minorFont>
        <a:latin typeface="Bookman Old Sty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4834</TotalTime>
  <Words>1061</Words>
  <Application>Microsoft Office PowerPoint</Application>
  <PresentationFormat>Custom</PresentationFormat>
  <Paragraphs>128</Paragraphs>
  <Slides>12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INSTITUTE OF AERONAUTICAL ENGINEERING (Autonomous) Dundigal, Hyderabad - 500 043</vt:lpstr>
      <vt:lpstr>Outline</vt:lpstr>
      <vt:lpstr>Objective of Project</vt:lpstr>
      <vt:lpstr>Abstract </vt:lpstr>
      <vt:lpstr>Literature Papers</vt:lpstr>
      <vt:lpstr>Literature Papers</vt:lpstr>
      <vt:lpstr>Literature Papers</vt:lpstr>
      <vt:lpstr>Literature Papers</vt:lpstr>
      <vt:lpstr>Existing System</vt:lpstr>
      <vt:lpstr>Proposed System</vt:lpstr>
      <vt:lpstr> References </vt:lpstr>
      <vt:lpstr>THANK YOU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 Uday Kiran</dc:creator>
  <cp:lastModifiedBy>Hari Bharadwaj</cp:lastModifiedBy>
  <cp:revision>441</cp:revision>
  <dcterms:created xsi:type="dcterms:W3CDTF">2022-01-24T13:25:03Z</dcterms:created>
  <dcterms:modified xsi:type="dcterms:W3CDTF">2024-12-13T05:49:49Z</dcterms:modified>
</cp:coreProperties>
</file>